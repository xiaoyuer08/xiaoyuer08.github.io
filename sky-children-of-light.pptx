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84259" cy="84259"/>
          </a:xfrm>
          <a:prstGeom prst="ellipse">
            <a:avLst/>
          </a:prstGeom>
          <a:solidFill>
            <a:srgbClr val="FFC857">
              <a:alpha val="638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62628" cy="62628"/>
          </a:xfrm>
          <a:prstGeom prst="ellipse">
            <a:avLst/>
          </a:prstGeom>
          <a:solidFill>
            <a:srgbClr val="FFC857">
              <a:alpha val="5069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274320"/>
            <a:ext cx="38414" cy="38414"/>
          </a:xfrm>
          <a:prstGeom prst="ellipse">
            <a:avLst/>
          </a:prstGeom>
          <a:solidFill>
            <a:srgbClr val="FFC857">
              <a:alpha val="7829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371600"/>
            <a:ext cx="75608" cy="75608"/>
          </a:xfrm>
          <a:prstGeom prst="ellipse">
            <a:avLst/>
          </a:prstGeom>
          <a:solidFill>
            <a:srgbClr val="FFC857">
              <a:alpha val="78804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548640"/>
            <a:ext cx="86197" cy="86197"/>
          </a:xfrm>
          <a:prstGeom prst="ellipse">
            <a:avLst/>
          </a:prstGeom>
          <a:solidFill>
            <a:srgbClr val="FFC857">
              <a:alpha val="7911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645920"/>
            <a:ext cx="39862" cy="39862"/>
          </a:xfrm>
          <a:prstGeom prst="ellipse">
            <a:avLst/>
          </a:prstGeom>
          <a:solidFill>
            <a:srgbClr val="FFC857">
              <a:alpha val="7731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560320"/>
            <a:ext cx="64659" cy="64659"/>
          </a:xfrm>
          <a:prstGeom prst="ellipse">
            <a:avLst/>
          </a:prstGeom>
          <a:solidFill>
            <a:srgbClr val="FFC857">
              <a:alpha val="65013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011680"/>
            <a:ext cx="37160" cy="37160"/>
          </a:xfrm>
          <a:prstGeom prst="ellipse">
            <a:avLst/>
          </a:prstGeom>
          <a:solidFill>
            <a:srgbClr val="FFC857">
              <a:alpha val="4822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65760"/>
            <a:ext cx="50909" cy="50909"/>
          </a:xfrm>
          <a:prstGeom prst="ellipse">
            <a:avLst/>
          </a:prstGeom>
          <a:solidFill>
            <a:srgbClr val="FFC857">
              <a:alpha val="4155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463040"/>
            <a:ext cx="59077" cy="59077"/>
          </a:xfrm>
          <a:prstGeom prst="ellipse">
            <a:avLst/>
          </a:prstGeom>
          <a:solidFill>
            <a:srgbClr val="FFC857">
              <a:alpha val="75362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200400"/>
            <a:ext cx="86323" cy="86323"/>
          </a:xfrm>
          <a:prstGeom prst="ellipse">
            <a:avLst/>
          </a:prstGeom>
          <a:solidFill>
            <a:srgbClr val="FFC857">
              <a:alpha val="7009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926080"/>
            <a:ext cx="74319" cy="74319"/>
          </a:xfrm>
          <a:prstGeom prst="ellipse">
            <a:avLst/>
          </a:prstGeom>
          <a:solidFill>
            <a:srgbClr val="FFC857">
              <a:alpha val="72974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3657600"/>
            <a:ext cx="76813" cy="76813"/>
          </a:xfrm>
          <a:prstGeom prst="ellipse">
            <a:avLst/>
          </a:prstGeom>
          <a:solidFill>
            <a:srgbClr val="FFC857">
              <a:alpha val="7922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4114800"/>
            <a:ext cx="70734" cy="70734"/>
          </a:xfrm>
          <a:prstGeom prst="ellipse">
            <a:avLst/>
          </a:prstGeom>
          <a:solidFill>
            <a:srgbClr val="FFC857">
              <a:alpha val="7786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74799" cy="74799"/>
          </a:xfrm>
          <a:prstGeom prst="ellipse">
            <a:avLst/>
          </a:prstGeom>
          <a:solidFill>
            <a:srgbClr val="FFC857">
              <a:alpha val="6675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3474720"/>
            <a:ext cx="70648" cy="70648"/>
          </a:xfrm>
          <a:prstGeom prst="ellipse">
            <a:avLst/>
          </a:prstGeom>
          <a:solidFill>
            <a:srgbClr val="FFC857">
              <a:alpha val="4000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914400"/>
            <a:ext cx="56356" cy="56356"/>
          </a:xfrm>
          <a:prstGeom prst="ellipse">
            <a:avLst/>
          </a:prstGeom>
          <a:solidFill>
            <a:srgbClr val="FFC857">
              <a:alpha val="43127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560320"/>
            <a:ext cx="51144" cy="51144"/>
          </a:xfrm>
          <a:prstGeom prst="ellipse">
            <a:avLst/>
          </a:prstGeom>
          <a:solidFill>
            <a:srgbClr val="FFC857">
              <a:alpha val="65861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F0A500">
              <a:alpha val="15000"/>
            </a:srgbClr>
          </a:solidFill>
          <a:ln/>
          <a:effectLst>
            <a:outerShdw sx="100000" sy="100000" kx="0" ky="0" algn="bl" rotWithShape="0" blurRad="508000" dist="50800" dir="16200000">
              <a:srgbClr val="F0A5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F0A5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800" kern="0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  遇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spc="400" kern="0" dirty="0">
                <a:solidFill>
                  <a:srgbClr val="F5E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Sky: Children of the Light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thatgamecompany  ·  2019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游戏简介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498080" cy="59436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🕊️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社交冒险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在云端王国中飞翔，与陌生灵魂建立联结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7498080" cy="59436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148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148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/ Switch / PS4 / PS5 / PC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834640"/>
            <a:ext cx="7498080" cy="59436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2834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制作团队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thatgamecompany（陈星汉 Jenova Chen 主创）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520440"/>
            <a:ext cx="7498080" cy="59436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520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520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首发时间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35204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年 7 月 18 日（iOS 全球上线）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7498080" cy="59436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2062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206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全球玩家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累计超过 2 亿次下载，覆盖 200+ 国家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世界与地图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Realms of the Sky Kingdom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68880" cy="1051560"/>
          </a:xfrm>
          <a:prstGeom prst="rect">
            <a:avLst/>
          </a:prstGeom>
          <a:solidFill>
            <a:srgbClr val="3A9188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3A91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813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晨岛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初生之地·觉醒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468880" cy="1051560"/>
          </a:xfrm>
          <a:prstGeom prst="rect">
            <a:avLst/>
          </a:prstGeom>
          <a:solidFill>
            <a:srgbClr val="5EAA5E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5EAA5E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813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Prairie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云海草原·相遇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468880" cy="1051560"/>
          </a:xfrm>
          <a:prstGeom prst="rect">
            <a:avLst/>
          </a:prstGeom>
          <a:solidFill>
            <a:srgbClr val="2E7D5B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813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雨林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静谧深林·共撑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606040"/>
            <a:ext cx="2468880" cy="1051560"/>
          </a:xfrm>
          <a:prstGeom prst="rect">
            <a:avLst/>
          </a:prstGeom>
          <a:solidFill>
            <a:srgbClr val="6B5BAE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606040"/>
            <a:ext cx="2468880" cy="54864"/>
          </a:xfrm>
          <a:prstGeom prst="rect">
            <a:avLst/>
          </a:prstGeom>
          <a:solidFill>
            <a:srgbClr val="6B5BA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715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霞谷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冰天霞光·竞速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606040"/>
            <a:ext cx="2468880" cy="1051560"/>
          </a:xfrm>
          <a:prstGeom prst="rect">
            <a:avLst/>
          </a:prstGeom>
          <a:solidFill>
            <a:srgbClr val="8B4513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606040"/>
            <a:ext cx="2468880" cy="5486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2715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暮土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1188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Wasteland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暗影荒原·勇气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606040"/>
            <a:ext cx="2468880" cy="1051560"/>
          </a:xfrm>
          <a:prstGeom prst="rect">
            <a:avLst/>
          </a:prstGeom>
          <a:solidFill>
            <a:srgbClr val="1A3A5C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606040"/>
            <a:ext cx="246888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715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禁阁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星辰藏书·智慧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2468880" cy="1051560"/>
          </a:xfrm>
          <a:prstGeom prst="rect">
            <a:avLst/>
          </a:prstGeom>
          <a:solidFill>
            <a:srgbClr val="8B0000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3840480"/>
            <a:ext cx="246888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950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伊甸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4526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献祭之山·重生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3840480"/>
            <a:ext cx="2468880" cy="1051560"/>
          </a:xfrm>
          <a:prstGeom prst="rect">
            <a:avLst/>
          </a:prstGeom>
          <a:solidFill>
            <a:srgbClr val="4A0000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4720" y="3840480"/>
            <a:ext cx="2468880" cy="54864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3950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暴风眼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61188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11880" y="4526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终极试炼·奉献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3840480"/>
            <a:ext cx="2468880" cy="1051560"/>
          </a:xfrm>
          <a:prstGeom prst="rect">
            <a:avLst/>
          </a:prstGeom>
          <a:solidFill>
            <a:srgbClr val="C8A850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840480"/>
            <a:ext cx="2468880" cy="54864"/>
          </a:xfrm>
          <a:prstGeom prst="rect">
            <a:avLst/>
          </a:prstGeom>
          <a:solidFill>
            <a:srgbClr val="C8A850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3950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星光沙漠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508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Starlight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4526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季节秘境·探索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核心玩法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32004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飞行与光翼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收集光翼（斗篷等级）解锁飞行能力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不同斗篷拥有不同的飞行风格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气流与云层为飞行提供上升动力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光翼被撞击/淋雨会掉落，需重新收集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🕯  蜡烛与先祖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点亮蜡烛收集烛光 → 合成蜡烛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解锁先祖节点获取动作与装扮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献祭蜡烛获得升华蜡烛（心火）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伊甸献祭是终极蜡烛获取方式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社交系统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&amp; Friendship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54480" cy="256032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554480" cy="54864"/>
          </a:xfrm>
          <a:prstGeom prst="rect">
            <a:avLst/>
          </a:prstGeom>
          <a:solidFill>
            <a:srgbClr val="A0A0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0A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陌生人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在地图中偶遇其他玩家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只能看到模糊轮廓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463040"/>
            <a:ext cx="1554480" cy="256032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94560" y="1463040"/>
            <a:ext cx="1554480" cy="54864"/>
          </a:xfrm>
          <a:prstGeom prst="rect">
            <a:avLst/>
          </a:prstGeom>
          <a:solidFill>
            <a:srgbClr val="E8D5B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D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8600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点蜡烛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主动走近点亮蜡烛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彼此名字浮现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1554480" cy="256032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463040"/>
            <a:ext cx="1554480" cy="54864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2336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送心火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每日互送心火升温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友谊之树开始生长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0" y="1463040"/>
            <a:ext cx="1554480" cy="256032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4630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6072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牵手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解锁牵手动作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一起飞翔穿越云海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1463040"/>
            <a:ext cx="1554480" cy="256032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1463040"/>
            <a:ext cx="15544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9808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深厚羁绊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拥抱、击掌、背背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共享光之旅途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“给予即是获得——在光遇中，每一个善意的举动都会被回赠”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季节与活动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&amp; Events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29184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季节 Seasons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每季持续约 70 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独特先祖与限定装扮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季节蜡烛与季节之心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通行证（季卡）解锁满级奖励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已运营 20+ 个赛季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97480" cy="329184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71600"/>
            <a:ext cx="2697480" cy="54864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活动 Events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春节 / 万圣节 / 圣诞节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音乐节 / 飞行日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每日任务与限时挑战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复刻先祖回归（每周四）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合作联动（如：小王子季）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2697480" cy="329184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旅行先祖 Traveling Spirits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往季先祖限时回归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每周四来访，停留 3 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可用普通蜡烛兑换旧物品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补全错过的动作与装扮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老玩家与新玩家共同期待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艺术与音乐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Soundtrack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32004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视觉美学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低多边形 + 柔光渲染，治愈系画风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从黎明到黄昏的动态天光变化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每个地图拥有独特的色彩情绪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角色设计简洁而有辨识度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斗篷与发型的粒子光效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原声音乐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Diamante 作曲，管弦 + 氛围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每个地图拥有专属主题曲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游戏内乐器可自由演奏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年度音乐节汇聚全球玩家合奏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 BAFTA 最佳原声提名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206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社区与影响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Cultural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749040" cy="13716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2亿+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全球下载量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年度精选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749040" cy="13716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554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覆盖国家与地区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跨平台同步更新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749040" cy="13716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0058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赛季运营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持续内容更新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749040" cy="1371600"/>
          </a:xfrm>
          <a:prstGeom prst="rect">
            <a:avLst/>
          </a:prstGeom>
          <a:solidFill>
            <a:srgbClr val="16213E">
              <a:alpha val="6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支持平台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/ Switch / PS / PC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“光遇不是游戏，而是一种体验——关于连接、善意与光的旅途”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82205" cy="82205"/>
          </a:xfrm>
          <a:prstGeom prst="ellipse">
            <a:avLst/>
          </a:prstGeom>
          <a:solidFill>
            <a:srgbClr val="FFC857">
              <a:alpha val="7954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45709" cy="45709"/>
          </a:xfrm>
          <a:prstGeom prst="ellipse">
            <a:avLst/>
          </a:prstGeom>
          <a:solidFill>
            <a:srgbClr val="FFC857">
              <a:alpha val="4301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274320"/>
            <a:ext cx="85927" cy="85927"/>
          </a:xfrm>
          <a:prstGeom prst="ellipse">
            <a:avLst/>
          </a:prstGeom>
          <a:solidFill>
            <a:srgbClr val="FFC857">
              <a:alpha val="5686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371600"/>
            <a:ext cx="80924" cy="80924"/>
          </a:xfrm>
          <a:prstGeom prst="ellipse">
            <a:avLst/>
          </a:prstGeom>
          <a:solidFill>
            <a:srgbClr val="FFC857">
              <a:alpha val="7196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548640"/>
            <a:ext cx="63476" cy="63476"/>
          </a:xfrm>
          <a:prstGeom prst="ellipse">
            <a:avLst/>
          </a:prstGeom>
          <a:solidFill>
            <a:srgbClr val="FFC857">
              <a:alpha val="7939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645920"/>
            <a:ext cx="64416" cy="64416"/>
          </a:xfrm>
          <a:prstGeom prst="ellipse">
            <a:avLst/>
          </a:prstGeom>
          <a:solidFill>
            <a:srgbClr val="FFC857">
              <a:alpha val="5733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560320"/>
            <a:ext cx="56280" cy="56280"/>
          </a:xfrm>
          <a:prstGeom prst="ellipse">
            <a:avLst/>
          </a:prstGeom>
          <a:solidFill>
            <a:srgbClr val="FFC857">
              <a:alpha val="6814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011680"/>
            <a:ext cx="84649" cy="84649"/>
          </a:xfrm>
          <a:prstGeom prst="ellipse">
            <a:avLst/>
          </a:prstGeom>
          <a:solidFill>
            <a:srgbClr val="FFC857">
              <a:alpha val="48984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65760"/>
            <a:ext cx="46799" cy="46799"/>
          </a:xfrm>
          <a:prstGeom prst="ellipse">
            <a:avLst/>
          </a:prstGeom>
          <a:solidFill>
            <a:srgbClr val="FFC857">
              <a:alpha val="4376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1463040"/>
            <a:ext cx="74369" cy="74369"/>
          </a:xfrm>
          <a:prstGeom prst="ellipse">
            <a:avLst/>
          </a:prstGeom>
          <a:solidFill>
            <a:srgbClr val="FFC857">
              <a:alpha val="6220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200400"/>
            <a:ext cx="74626" cy="74626"/>
          </a:xfrm>
          <a:prstGeom prst="ellipse">
            <a:avLst/>
          </a:prstGeom>
          <a:solidFill>
            <a:srgbClr val="FFC857">
              <a:alpha val="4460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926080"/>
            <a:ext cx="70599" cy="70599"/>
          </a:xfrm>
          <a:prstGeom prst="ellipse">
            <a:avLst/>
          </a:prstGeom>
          <a:solidFill>
            <a:srgbClr val="FFC857">
              <a:alpha val="4436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3657600"/>
            <a:ext cx="84673" cy="84673"/>
          </a:xfrm>
          <a:prstGeom prst="ellipse">
            <a:avLst/>
          </a:prstGeom>
          <a:solidFill>
            <a:srgbClr val="FFC857">
              <a:alpha val="5480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4114800"/>
            <a:ext cx="85234" cy="85234"/>
          </a:xfrm>
          <a:prstGeom prst="ellipse">
            <a:avLst/>
          </a:prstGeom>
          <a:solidFill>
            <a:srgbClr val="FFC857">
              <a:alpha val="691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68280" cy="68280"/>
          </a:xfrm>
          <a:prstGeom prst="ellipse">
            <a:avLst/>
          </a:prstGeom>
          <a:solidFill>
            <a:srgbClr val="FFC857">
              <a:alpha val="4835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3474720"/>
            <a:ext cx="87259" cy="87259"/>
          </a:xfrm>
          <a:prstGeom prst="ellipse">
            <a:avLst/>
          </a:prstGeom>
          <a:solidFill>
            <a:srgbClr val="FFC857">
              <a:alpha val="61903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914400"/>
            <a:ext cx="81266" cy="81266"/>
          </a:xfrm>
          <a:prstGeom prst="ellipse">
            <a:avLst/>
          </a:prstGeom>
          <a:solidFill>
            <a:srgbClr val="FFC857">
              <a:alpha val="77329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560320"/>
            <a:ext cx="54270" cy="54270"/>
          </a:xfrm>
          <a:prstGeom prst="ellipse">
            <a:avLst/>
          </a:prstGeom>
          <a:solidFill>
            <a:srgbClr val="FFC857">
              <a:alpha val="6756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F0A500">
              <a:alpha val="15000"/>
            </a:srgbClr>
          </a:solidFill>
          <a:ln/>
          <a:effectLst>
            <a:outerShdw sx="100000" sy="100000" kx="0" ky="0" algn="bl" rotWithShape="0" blurRad="508000" dist="50800" dir="16200000">
              <a:srgbClr val="F0A5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16200000">
              <a:srgbClr val="F0A5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愿光与你同在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E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the Light be with You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Sky: Children of the Light  ·  thatgamecompany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  ✦  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光遇 · Sky: Children of the Light</dc:title>
  <dc:subject>PptxGenJS Presentation</dc:subject>
  <dc:creator>LightClaw</dc:creator>
  <cp:lastModifiedBy>LightClaw</cp:lastModifiedBy>
  <cp:revision>1</cp:revision>
  <dcterms:created xsi:type="dcterms:W3CDTF">2026-07-08T09:35:00Z</dcterms:created>
  <dcterms:modified xsi:type="dcterms:W3CDTF">2026-07-08T09:35:00Z</dcterms:modified>
</cp:coreProperties>
</file>